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571"/>
    <a:srgbClr val="E0C27D"/>
    <a:srgbClr val="A7611A"/>
    <a:srgbClr val="80CDC2"/>
    <a:srgbClr val="312057"/>
    <a:srgbClr val="202BAD"/>
    <a:srgbClr val="0791B3"/>
    <a:srgbClr val="0C9488"/>
    <a:srgbClr val="2833CC"/>
    <a:srgbClr val="010D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84" d="100"/>
          <a:sy n="184" d="100"/>
        </p:scale>
        <p:origin x="176" y="2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919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002060"/>
            </a:gs>
            <a:gs pos="46000">
              <a:schemeClr val="accent5">
                <a:lumMod val="23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49661" y="104702"/>
            <a:ext cx="2237137" cy="2303911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92015" y="630884"/>
            <a:ext cx="1965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279017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 Magnet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198" y="286012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CFBF1"/>
                </a:solidFill>
              </a:rPr>
              <a:t>Identifying Key Drivers of Residential Rental Prices in Germany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198" y="41468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Team 146  ·  CSE6242: DVA   ·  Spring 2026</a:t>
            </a:r>
          </a:p>
        </p:txBody>
      </p:sp>
      <p:sp>
        <p:nvSpPr>
          <p:cNvPr id="10" name="Text 8"/>
          <p:cNvSpPr/>
          <p:nvPr/>
        </p:nvSpPr>
        <p:spPr>
          <a:xfrm>
            <a:off x="457199" y="438683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T.Buttrick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 ·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A.Diallo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 ·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D.Siachras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 ·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N.Gala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 ·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S.Venkatesh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68E6A36A-6717-EA32-EE41-B5FF39D99BB6}"/>
              </a:ext>
            </a:extLst>
          </p:cNvPr>
          <p:cNvSpPr/>
          <p:nvPr/>
        </p:nvSpPr>
        <p:spPr>
          <a:xfrm>
            <a:off x="457199" y="2482456"/>
            <a:ext cx="8229599" cy="76721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B32B09-4DA1-715F-2437-44214C994571}"/>
              </a:ext>
            </a:extLst>
          </p:cNvPr>
          <p:cNvSpPr txBox="1"/>
          <p:nvPr/>
        </p:nvSpPr>
        <p:spPr>
          <a:xfrm>
            <a:off x="4537364" y="38030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DE7DEB-C521-1C27-EE68-C0E6B0577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692" y="436626"/>
            <a:ext cx="1192831" cy="11928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10D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Our Approach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822960"/>
            <a:ext cx="228600" cy="219456"/>
          </a:xfrm>
          <a:prstGeom prst="ellipse">
            <a:avLst/>
          </a:prstGeom>
          <a:solidFill>
            <a:srgbClr val="E0C2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749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What are we doing?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0698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Predicting residential rents in Germany + visualizing which amenities drive prices in each city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075688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212848"/>
            <a:ext cx="228600" cy="219456"/>
          </a:xfrm>
          <a:prstGeom prst="ellipse">
            <a:avLst/>
          </a:prstGeom>
          <a:solidFill>
            <a:srgbClr val="80CD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1396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Why does it matter?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45973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Renters, investors &amp; policymakers lack transparency into what drives rent differences across cities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465576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3602736"/>
            <a:ext cx="228600" cy="219456"/>
          </a:xfrm>
          <a:prstGeom prst="ellipse">
            <a:avLst/>
          </a:prstGeom>
          <a:solidFill>
            <a:srgbClr val="A761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5295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What's the gap?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84962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Existing models output a price as a black box; no interactivity, no city-specific driver insight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685800"/>
            <a:ext cx="4297680" cy="4014216"/>
          </a:xfrm>
          <a:prstGeom prst="rect">
            <a:avLst/>
          </a:prstGeom>
          <a:solidFill>
            <a:srgbClr val="1A2B4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FBF1"/>
                </a:solidFill>
              </a:rPr>
              <a:t>Our Solution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12080" y="1344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Advanced Modelling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12080" y="1600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C27D"/>
                </a:solidFill>
              </a:rPr>
              <a:t>Captures nonlinear interactions beyond simple regression approaches</a:t>
            </a:r>
          </a:p>
        </p:txBody>
      </p:sp>
      <p:sp>
        <p:nvSpPr>
          <p:cNvPr id="24" name="Text 22"/>
          <p:cNvSpPr/>
          <p:nvPr/>
        </p:nvSpPr>
        <p:spPr>
          <a:xfrm>
            <a:off x="5212080" y="2212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City-Specific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1208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C27D"/>
                </a:solidFill>
              </a:rPr>
              <a:t>Provide separate models per city to capture drivers differing by market and region</a:t>
            </a:r>
          </a:p>
        </p:txBody>
      </p:sp>
      <p:sp>
        <p:nvSpPr>
          <p:cNvPr id="28" name="Text 26"/>
          <p:cNvSpPr/>
          <p:nvPr/>
        </p:nvSpPr>
        <p:spPr>
          <a:xfrm>
            <a:off x="5212080" y="3081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Interactive Dashboard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12080" y="3337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E0C27D"/>
                </a:solidFill>
              </a:rPr>
              <a:t>Streamlit</a:t>
            </a:r>
            <a:r>
              <a:rPr lang="en-US" sz="1000" dirty="0">
                <a:solidFill>
                  <a:srgbClr val="E0C27D"/>
                </a:solidFill>
              </a:rPr>
              <a:t>-based app explores feature importance across cities</a:t>
            </a:r>
          </a:p>
        </p:txBody>
      </p:sp>
      <p:sp>
        <p:nvSpPr>
          <p:cNvPr id="30" name="Shape 28"/>
          <p:cNvSpPr/>
          <p:nvPr/>
        </p:nvSpPr>
        <p:spPr>
          <a:xfrm>
            <a:off x="4844548" y="4005639"/>
            <a:ext cx="230372" cy="200601"/>
          </a:xfrm>
          <a:prstGeom prst="ellipse">
            <a:avLst/>
          </a:prstGeom>
          <a:solidFill>
            <a:srgbClr val="0D9488"/>
          </a:solidFill>
          <a:ln/>
        </p:spPr>
        <p:txBody>
          <a:bodyPr anchor="ctr" anchorCtr="1"/>
          <a:lstStyle/>
          <a:p>
            <a:r>
              <a:rPr lang="en-US" sz="1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8" name="Shape 16"/>
          <p:cNvSpPr/>
          <p:nvPr/>
        </p:nvSpPr>
        <p:spPr>
          <a:xfrm>
            <a:off x="4844548" y="1399599"/>
            <a:ext cx="230372" cy="200601"/>
          </a:xfrm>
          <a:prstGeom prst="ellipse">
            <a:avLst/>
          </a:prstGeom>
          <a:solidFill>
            <a:srgbClr val="0D9488"/>
          </a:solidFill>
          <a:ln/>
        </p:spPr>
        <p:txBody>
          <a:bodyPr anchor="ctr" anchorCtr="1"/>
          <a:lstStyle/>
          <a:p>
            <a:r>
              <a:rPr lang="en-U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Shape 20"/>
          <p:cNvSpPr/>
          <p:nvPr/>
        </p:nvSpPr>
        <p:spPr>
          <a:xfrm>
            <a:off x="4844548" y="2268279"/>
            <a:ext cx="230372" cy="200601"/>
          </a:xfrm>
          <a:prstGeom prst="ellipse">
            <a:avLst/>
          </a:prstGeom>
          <a:solidFill>
            <a:srgbClr val="0D9488"/>
          </a:solidFill>
          <a:ln/>
        </p:spPr>
        <p:txBody>
          <a:bodyPr anchor="ctr" anchorCtr="1"/>
          <a:lstStyle/>
          <a:p>
            <a:r>
              <a:rPr lang="en-US" sz="1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6" name="Shape 24"/>
          <p:cNvSpPr/>
          <p:nvPr/>
        </p:nvSpPr>
        <p:spPr>
          <a:xfrm>
            <a:off x="4844548" y="3136959"/>
            <a:ext cx="230372" cy="200601"/>
          </a:xfrm>
          <a:prstGeom prst="ellipse">
            <a:avLst/>
          </a:prstGeom>
          <a:solidFill>
            <a:srgbClr val="0D9488"/>
          </a:solidFill>
          <a:ln/>
        </p:spPr>
        <p:txBody>
          <a:bodyPr anchor="ctr" anchorCtr="1"/>
          <a:lstStyle/>
          <a:p>
            <a:r>
              <a:rPr lang="en-US" sz="1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2" name="Text 30"/>
          <p:cNvSpPr/>
          <p:nvPr/>
        </p:nvSpPr>
        <p:spPr>
          <a:xfrm>
            <a:off x="5212080" y="3950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Explainability First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12080" y="4206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C27D"/>
                </a:solidFill>
              </a:rPr>
              <a:t>SHAP + feature rankings show why a property costs what it does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Beneficiaries &amp; Expected Impact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39" y="841248"/>
            <a:ext cx="836815" cy="845820"/>
          </a:xfrm>
          <a:prstGeom prst="ellipse">
            <a:avLst/>
          </a:prstGeom>
          <a:solidFill>
            <a:srgbClr val="0385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841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Tenants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1704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Interrogate if listings are fairly priced and understand which amenities justify price differentials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7315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9875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0" y="841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Investors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11704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Target highest-ROI features for design, renovation, and purchasing decisions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591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2212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Developers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5420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Guide amenity investment decisions with data-backed feature importance rankings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10312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3591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69280" y="2212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Policymakers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254203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Understand how infrastructure &amp; neighborhood factors drive affordability across cities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401568"/>
            <a:ext cx="8595360" cy="1668780"/>
          </a:xfrm>
          <a:prstGeom prst="rect">
            <a:avLst/>
          </a:prstGeom>
          <a:solidFill>
            <a:srgbClr val="80CDC2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844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Broader Impact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3803903"/>
            <a:ext cx="8138160" cy="1162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611A"/>
                </a:solidFill>
              </a:rPr>
              <a:t>Reduces information asymmetry between renters, owners, &amp; investors </a:t>
            </a:r>
          </a:p>
          <a:p>
            <a:pPr marL="0" indent="0">
              <a:buNone/>
            </a:pPr>
            <a:endParaRPr lang="en-US" sz="1050" dirty="0">
              <a:solidFill>
                <a:srgbClr val="A7611A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A7611A"/>
                </a:solidFill>
              </a:rPr>
              <a:t>				      Leads to more transparent pricing </a:t>
            </a:r>
          </a:p>
          <a:p>
            <a:pPr marL="0" indent="0">
              <a:buNone/>
            </a:pPr>
            <a:endParaRPr lang="en-US" sz="1050" dirty="0">
              <a:solidFill>
                <a:srgbClr val="A7611A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A7611A"/>
                </a:solidFill>
              </a:rPr>
              <a:t>						      Leads to fairer housing market transactions. </a:t>
            </a:r>
          </a:p>
          <a:p>
            <a:pPr marL="0" indent="0">
              <a:buNone/>
            </a:pPr>
            <a:endParaRPr lang="en-US" sz="1050" dirty="0">
              <a:solidFill>
                <a:srgbClr val="E0C27D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038571"/>
                </a:solidFill>
              </a:rPr>
              <a:t>If widely adopted, improves rental income valuation accuracy and overall market efficiency.</a:t>
            </a:r>
          </a:p>
        </p:txBody>
      </p:sp>
      <p:pic>
        <p:nvPicPr>
          <p:cNvPr id="28" name="Graphic 27" descr="House with solid fill">
            <a:extLst>
              <a:ext uri="{FF2B5EF4-FFF2-40B4-BE49-F238E27FC236}">
                <a16:creationId xmlns:a16="http://schemas.microsoft.com/office/drawing/2014/main" id="{856CFE56-B5E5-D293-DCE2-17E680EDA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751" y="921050"/>
            <a:ext cx="577389" cy="592282"/>
          </a:xfrm>
          <a:prstGeom prst="rect">
            <a:avLst/>
          </a:prstGeom>
        </p:spPr>
      </p:pic>
      <p:sp>
        <p:nvSpPr>
          <p:cNvPr id="29" name="Shape 3">
            <a:extLst>
              <a:ext uri="{FF2B5EF4-FFF2-40B4-BE49-F238E27FC236}">
                <a16:creationId xmlns:a16="http://schemas.microsoft.com/office/drawing/2014/main" id="{10FB40A0-73CC-37FA-591C-23563F4E374B}"/>
              </a:ext>
            </a:extLst>
          </p:cNvPr>
          <p:cNvSpPr/>
          <p:nvPr/>
        </p:nvSpPr>
        <p:spPr>
          <a:xfrm>
            <a:off x="335973" y="2225456"/>
            <a:ext cx="836815" cy="845820"/>
          </a:xfrm>
          <a:prstGeom prst="ellipse">
            <a:avLst/>
          </a:prstGeom>
          <a:solidFill>
            <a:srgbClr val="0385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EE076D04-B4E7-6BC2-9EFB-0824772AFBF1}"/>
              </a:ext>
            </a:extLst>
          </p:cNvPr>
          <p:cNvSpPr/>
          <p:nvPr/>
        </p:nvSpPr>
        <p:spPr>
          <a:xfrm>
            <a:off x="4770813" y="2225456"/>
            <a:ext cx="836815" cy="845820"/>
          </a:xfrm>
          <a:prstGeom prst="ellipse">
            <a:avLst/>
          </a:prstGeom>
          <a:solidFill>
            <a:srgbClr val="0385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5DCF1361-F27A-F4C6-1210-FFE4D5424190}"/>
              </a:ext>
            </a:extLst>
          </p:cNvPr>
          <p:cNvSpPr/>
          <p:nvPr/>
        </p:nvSpPr>
        <p:spPr>
          <a:xfrm>
            <a:off x="4750030" y="885722"/>
            <a:ext cx="836815" cy="845820"/>
          </a:xfrm>
          <a:prstGeom prst="ellipse">
            <a:avLst/>
          </a:prstGeom>
          <a:solidFill>
            <a:srgbClr val="03857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Graphic 32" descr="Piggy Bank with solid fill">
            <a:extLst>
              <a:ext uri="{FF2B5EF4-FFF2-40B4-BE49-F238E27FC236}">
                <a16:creationId xmlns:a16="http://schemas.microsoft.com/office/drawing/2014/main" id="{8E10D100-8A40-82ED-1EAF-2434D0485B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320" y="960120"/>
            <a:ext cx="685800" cy="685800"/>
          </a:xfrm>
          <a:prstGeom prst="rect">
            <a:avLst/>
          </a:prstGeom>
        </p:spPr>
      </p:pic>
      <p:pic>
        <p:nvPicPr>
          <p:cNvPr id="35" name="Graphic 34" descr="Tools with solid fill">
            <a:extLst>
              <a:ext uri="{FF2B5EF4-FFF2-40B4-BE49-F238E27FC236}">
                <a16:creationId xmlns:a16="http://schemas.microsoft.com/office/drawing/2014/main" id="{947D193E-8C56-E7E4-9222-775C77DC3E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755" y="2332828"/>
            <a:ext cx="577249" cy="577249"/>
          </a:xfrm>
          <a:prstGeom prst="rect">
            <a:avLst/>
          </a:prstGeom>
        </p:spPr>
      </p:pic>
      <p:pic>
        <p:nvPicPr>
          <p:cNvPr id="37" name="Graphic 36" descr="Scales of justice with solid fill">
            <a:extLst>
              <a:ext uri="{FF2B5EF4-FFF2-40B4-BE49-F238E27FC236}">
                <a16:creationId xmlns:a16="http://schemas.microsoft.com/office/drawing/2014/main" id="{91A44CB4-35FF-1D76-2E8D-A9F8997673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46320" y="2276302"/>
            <a:ext cx="685800" cy="685800"/>
          </a:xfrm>
          <a:prstGeom prst="rect">
            <a:avLst/>
          </a:prstGeom>
        </p:spPr>
      </p:pic>
      <p:sp>
        <p:nvSpPr>
          <p:cNvPr id="39" name="Bent Up Arrow 38">
            <a:extLst>
              <a:ext uri="{FF2B5EF4-FFF2-40B4-BE49-F238E27FC236}">
                <a16:creationId xmlns:a16="http://schemas.microsoft.com/office/drawing/2014/main" id="{DA6BAC83-A5CB-6675-B9E8-F95A04CCB953}"/>
              </a:ext>
            </a:extLst>
          </p:cNvPr>
          <p:cNvSpPr/>
          <p:nvPr/>
        </p:nvSpPr>
        <p:spPr>
          <a:xfrm flipV="1">
            <a:off x="4389120" y="3893127"/>
            <a:ext cx="141316" cy="200197"/>
          </a:xfrm>
          <a:prstGeom prst="bentUpArrow">
            <a:avLst/>
          </a:prstGeom>
          <a:solidFill>
            <a:srgbClr val="038571"/>
          </a:solidFill>
          <a:ln>
            <a:solidFill>
              <a:srgbClr val="0385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Bent Up Arrow 41">
            <a:extLst>
              <a:ext uri="{FF2B5EF4-FFF2-40B4-BE49-F238E27FC236}">
                <a16:creationId xmlns:a16="http://schemas.microsoft.com/office/drawing/2014/main" id="{F9E2A485-BFE5-D0F5-1D2A-8085F1F886AA}"/>
              </a:ext>
            </a:extLst>
          </p:cNvPr>
          <p:cNvSpPr/>
          <p:nvPr/>
        </p:nvSpPr>
        <p:spPr>
          <a:xfrm flipV="1">
            <a:off x="6210993" y="4211783"/>
            <a:ext cx="141316" cy="200197"/>
          </a:xfrm>
          <a:prstGeom prst="bentUpArrow">
            <a:avLst/>
          </a:prstGeom>
          <a:solidFill>
            <a:srgbClr val="038571"/>
          </a:solidFill>
          <a:ln>
            <a:solidFill>
              <a:srgbClr val="0385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Literature Review &amp; USP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solidFill>
            <a:srgbClr val="038571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PRIOR 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55663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38571"/>
                </a:solidFill>
              </a:rPr>
              <a:t>[Ho et al. 2021]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1375373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Tree ensembles outperform linear models but rarely translated into user-facing 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7554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38571"/>
                </a:solidFill>
              </a:rPr>
              <a:t>[Lenaers &amp; De Moor 2023]</a:t>
            </a:r>
          </a:p>
        </p:txBody>
      </p:sp>
      <p:sp>
        <p:nvSpPr>
          <p:cNvPr id="11" name="Text 9"/>
          <p:cNvSpPr/>
          <p:nvPr/>
        </p:nvSpPr>
        <p:spPr>
          <a:xfrm>
            <a:off x="450498" y="209420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XAI techniques improve rent model transparency, but explanations typically static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0498" y="2426365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38571"/>
                </a:solidFill>
              </a:rPr>
              <a:t>[Lorenz et al. 2023]</a:t>
            </a:r>
          </a:p>
        </p:txBody>
      </p:sp>
      <p:sp>
        <p:nvSpPr>
          <p:cNvPr id="14" name="Text 12"/>
          <p:cNvSpPr/>
          <p:nvPr/>
        </p:nvSpPr>
        <p:spPr>
          <a:xfrm>
            <a:off x="450498" y="273995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City-level German ML: size &amp; age are primary drivers — but no cross-city comparison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0498" y="3077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38571"/>
                </a:solidFill>
              </a:rPr>
              <a:t>[Metz-Peeters 2025]</a:t>
            </a:r>
          </a:p>
        </p:txBody>
      </p:sp>
      <p:sp>
        <p:nvSpPr>
          <p:cNvPr id="17" name="Text 15"/>
          <p:cNvSpPr/>
          <p:nvPr/>
        </p:nvSpPr>
        <p:spPr>
          <a:xfrm>
            <a:off x="450498" y="338570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r>
              <a:rPr lang="en-US" sz="1000" dirty="0">
                <a:solidFill>
                  <a:srgbClr val="64748B"/>
                </a:solidFill>
              </a:rPr>
              <a:t>Spatial heterogeneity in German cities — price drivers shift across markets</a:t>
            </a:r>
          </a:p>
        </p:txBody>
      </p:sp>
      <p:sp>
        <p:nvSpPr>
          <p:cNvPr id="18" name="Shape 16"/>
          <p:cNvSpPr/>
          <p:nvPr/>
        </p:nvSpPr>
        <p:spPr>
          <a:xfrm>
            <a:off x="274319" y="3837361"/>
            <a:ext cx="50293" cy="523119"/>
          </a:xfrm>
          <a:prstGeom prst="rect">
            <a:avLst/>
          </a:prstGeom>
          <a:solidFill>
            <a:srgbClr val="A761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0498" y="3748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38571"/>
                </a:solidFill>
              </a:rPr>
              <a:t>[Tapia et al. 2025]</a:t>
            </a:r>
            <a:endParaRPr lang="en-US" sz="1050" dirty="0">
              <a:solidFill>
                <a:srgbClr val="03857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0498" y="4098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SHAP + ensemble AVM outperforms hedonic baselines; accuracy + explainability pair well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594360"/>
            <a:ext cx="4206240" cy="4041435"/>
          </a:xfrm>
          <a:prstGeom prst="rect">
            <a:avLst/>
          </a:prstGeom>
          <a:solidFill>
            <a:srgbClr val="1A2B4A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658368"/>
            <a:ext cx="1645920" cy="256032"/>
          </a:xfrm>
          <a:prstGeom prst="rect">
            <a:avLst/>
          </a:prstGeom>
          <a:solidFill>
            <a:srgbClr val="03857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00600" y="658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OUR INNOVATIONS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1051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27" name="Text 25"/>
          <p:cNvSpPr/>
          <p:nvPr/>
        </p:nvSpPr>
        <p:spPr>
          <a:xfrm>
            <a:off x="4983480" y="1325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XGBoost with city-stratified training; SHAP values for local feature attribution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83480" y="1947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Cross-City</a:t>
            </a:r>
          </a:p>
        </p:txBody>
      </p:sp>
      <p:sp>
        <p:nvSpPr>
          <p:cNvPr id="31" name="Text 29"/>
          <p:cNvSpPr/>
          <p:nvPr/>
        </p:nvSpPr>
        <p:spPr>
          <a:xfrm>
            <a:off x="4983480" y="22219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Separate models per city reveal how drivers shift across German markets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83480" y="2843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Multi-Model</a:t>
            </a:r>
          </a:p>
        </p:txBody>
      </p:sp>
      <p:sp>
        <p:nvSpPr>
          <p:cNvPr id="35" name="Text 33"/>
          <p:cNvSpPr/>
          <p:nvPr/>
        </p:nvSpPr>
        <p:spPr>
          <a:xfrm>
            <a:off x="4983480" y="31181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Benchmarks XGBoost vs RF vs baseline — no single model assumed best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83480" y="37398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Visualization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4014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Interactive Streamlit dashboard — users explore feature importance by city, not just static charts</a:t>
            </a:r>
            <a:endParaRPr lang="en-US" sz="950" dirty="0"/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60B85B4E-9378-94BE-6DC5-57F933B553D7}"/>
              </a:ext>
            </a:extLst>
          </p:cNvPr>
          <p:cNvSpPr/>
          <p:nvPr/>
        </p:nvSpPr>
        <p:spPr>
          <a:xfrm>
            <a:off x="4796028" y="3837361"/>
            <a:ext cx="54864" cy="539635"/>
          </a:xfrm>
          <a:prstGeom prst="rect">
            <a:avLst/>
          </a:prstGeom>
          <a:solidFill>
            <a:srgbClr val="E0C2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9C4A5841-0F38-6947-0D0B-2E6F454EBDDC}"/>
              </a:ext>
            </a:extLst>
          </p:cNvPr>
          <p:cNvSpPr/>
          <p:nvPr/>
        </p:nvSpPr>
        <p:spPr>
          <a:xfrm>
            <a:off x="4796028" y="2923654"/>
            <a:ext cx="54864" cy="539635"/>
          </a:xfrm>
          <a:prstGeom prst="rect">
            <a:avLst/>
          </a:prstGeom>
          <a:solidFill>
            <a:srgbClr val="E0C2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B3020656-E5AC-0E40-330E-23F0DBDBC778}"/>
              </a:ext>
            </a:extLst>
          </p:cNvPr>
          <p:cNvSpPr/>
          <p:nvPr/>
        </p:nvSpPr>
        <p:spPr>
          <a:xfrm>
            <a:off x="4796721" y="2022140"/>
            <a:ext cx="54864" cy="539635"/>
          </a:xfrm>
          <a:prstGeom prst="rect">
            <a:avLst/>
          </a:prstGeom>
          <a:solidFill>
            <a:srgbClr val="E0C2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4EB393EC-9DA2-4D36-A487-245C5ACABD52}"/>
              </a:ext>
            </a:extLst>
          </p:cNvPr>
          <p:cNvSpPr/>
          <p:nvPr/>
        </p:nvSpPr>
        <p:spPr>
          <a:xfrm>
            <a:off x="4796028" y="1133649"/>
            <a:ext cx="54864" cy="539635"/>
          </a:xfrm>
          <a:prstGeom prst="rect">
            <a:avLst/>
          </a:prstGeom>
          <a:solidFill>
            <a:srgbClr val="E0C2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C21E1B1F-E64E-E888-92E8-3D31E0D8D96C}"/>
              </a:ext>
            </a:extLst>
          </p:cNvPr>
          <p:cNvSpPr/>
          <p:nvPr/>
        </p:nvSpPr>
        <p:spPr>
          <a:xfrm>
            <a:off x="272191" y="3167075"/>
            <a:ext cx="45719" cy="523118"/>
          </a:xfrm>
          <a:prstGeom prst="rect">
            <a:avLst/>
          </a:prstGeom>
          <a:solidFill>
            <a:srgbClr val="A761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1C479CEA-D007-E94F-B026-02F9E9EB6630}"/>
              </a:ext>
            </a:extLst>
          </p:cNvPr>
          <p:cNvSpPr/>
          <p:nvPr/>
        </p:nvSpPr>
        <p:spPr>
          <a:xfrm>
            <a:off x="274320" y="2516912"/>
            <a:ext cx="45719" cy="502991"/>
          </a:xfrm>
          <a:prstGeom prst="rect">
            <a:avLst/>
          </a:prstGeom>
          <a:solidFill>
            <a:srgbClr val="A761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1B566FBB-B791-BEF6-CD97-ED75E7DBFA07}"/>
              </a:ext>
            </a:extLst>
          </p:cNvPr>
          <p:cNvSpPr/>
          <p:nvPr/>
        </p:nvSpPr>
        <p:spPr>
          <a:xfrm>
            <a:off x="274320" y="1866749"/>
            <a:ext cx="45719" cy="502991"/>
          </a:xfrm>
          <a:prstGeom prst="rect">
            <a:avLst/>
          </a:prstGeom>
          <a:solidFill>
            <a:srgbClr val="A761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16">
            <a:extLst>
              <a:ext uri="{FF2B5EF4-FFF2-40B4-BE49-F238E27FC236}">
                <a16:creationId xmlns:a16="http://schemas.microsoft.com/office/drawing/2014/main" id="{0D8FCE0F-88EE-AA00-AC0D-5E0D2A6A17AC}"/>
              </a:ext>
            </a:extLst>
          </p:cNvPr>
          <p:cNvSpPr/>
          <p:nvPr/>
        </p:nvSpPr>
        <p:spPr>
          <a:xfrm>
            <a:off x="283320" y="1141066"/>
            <a:ext cx="45719" cy="502991"/>
          </a:xfrm>
          <a:prstGeom prst="rect">
            <a:avLst/>
          </a:prstGeom>
          <a:solidFill>
            <a:srgbClr val="A7611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Plan of Activities and Goals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2057400" cy="34335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2057400" cy="530352"/>
          </a:xfrm>
          <a:prstGeom prst="rect">
            <a:avLst/>
          </a:prstGeom>
          <a:solidFill>
            <a:srgbClr val="0385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Task 1: 01Mar – 15Mar 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9052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Exploratory Data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Clean ImmoScout24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88366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Exploratory analysis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41401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Feature engineering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658368"/>
            <a:ext cx="2057400" cy="34335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77440" y="658368"/>
            <a:ext cx="2057400" cy="530352"/>
          </a:xfrm>
          <a:prstGeom prst="rect">
            <a:avLst/>
          </a:prstGeom>
          <a:solidFill>
            <a:srgbClr val="E0C27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377440" y="658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Task 2: 01Mar – 15Mar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9052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Modelling Building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135331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XGBoost, RF, baseline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188366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Cross-validation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241401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Evaluate per-city accuracy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658368"/>
            <a:ext cx="2057400" cy="34335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26280" y="658368"/>
            <a:ext cx="2057400" cy="530352"/>
          </a:xfrm>
          <a:prstGeom prst="rect">
            <a:avLst/>
          </a:prstGeom>
          <a:solidFill>
            <a:srgbClr val="80CD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658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Task 3: 15Mar – 29Mar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26280" y="9052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135331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Extract SHAP values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188366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Build Streamlit app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241401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City comparisons UI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75120" y="658368"/>
            <a:ext cx="2057400" cy="34335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675120" y="658368"/>
            <a:ext cx="2057400" cy="530352"/>
          </a:xfrm>
          <a:prstGeom prst="rect">
            <a:avLst/>
          </a:prstGeom>
          <a:solidFill>
            <a:srgbClr val="A761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675120" y="658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Task 4: 29Mar - 24Apr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75120" y="9052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132320" y="135331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System integration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0" y="188366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Usability testing</a:t>
            </a:r>
            <a:endParaRPr lang="en-US" sz="10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232414B-6291-8CEF-97CD-59EF3A7D4AB8}"/>
              </a:ext>
            </a:extLst>
          </p:cNvPr>
          <p:cNvGrpSpPr/>
          <p:nvPr/>
        </p:nvGrpSpPr>
        <p:grpSpPr>
          <a:xfrm>
            <a:off x="393192" y="1468285"/>
            <a:ext cx="6647688" cy="1261872"/>
            <a:chOff x="393192" y="1426464"/>
            <a:chExt cx="6647688" cy="1261872"/>
          </a:xfrm>
        </p:grpSpPr>
        <p:sp>
          <p:nvSpPr>
            <p:cNvPr id="8" name="Shape 6"/>
            <p:cNvSpPr/>
            <p:nvPr/>
          </p:nvSpPr>
          <p:spPr>
            <a:xfrm>
              <a:off x="393192" y="1426464"/>
              <a:ext cx="201168" cy="201168"/>
            </a:xfrm>
            <a:prstGeom prst="ellipse">
              <a:avLst/>
            </a:prstGeom>
            <a:solidFill>
              <a:srgbClr val="03857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393192" y="1956816"/>
              <a:ext cx="201168" cy="201168"/>
            </a:xfrm>
            <a:prstGeom prst="ellipse">
              <a:avLst/>
            </a:prstGeom>
            <a:solidFill>
              <a:srgbClr val="03857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393192" y="2487168"/>
              <a:ext cx="201168" cy="201168"/>
            </a:xfrm>
            <a:prstGeom prst="ellipse">
              <a:avLst/>
            </a:prstGeom>
            <a:solidFill>
              <a:srgbClr val="03857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2542032" y="1426464"/>
              <a:ext cx="201168" cy="201168"/>
            </a:xfrm>
            <a:prstGeom prst="ellipse">
              <a:avLst/>
            </a:prstGeom>
            <a:solidFill>
              <a:srgbClr val="E0C27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2542032" y="1956816"/>
              <a:ext cx="201168" cy="201168"/>
            </a:xfrm>
            <a:prstGeom prst="ellipse">
              <a:avLst/>
            </a:prstGeom>
            <a:solidFill>
              <a:srgbClr val="E0C27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2542032" y="2487168"/>
              <a:ext cx="201168" cy="201168"/>
            </a:xfrm>
            <a:prstGeom prst="ellipse">
              <a:avLst/>
            </a:prstGeom>
            <a:solidFill>
              <a:srgbClr val="E0C27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4690872" y="1426464"/>
              <a:ext cx="201168" cy="201168"/>
            </a:xfrm>
            <a:prstGeom prst="ellipse">
              <a:avLst/>
            </a:prstGeom>
            <a:solidFill>
              <a:srgbClr val="80CDC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4690872" y="1956816"/>
              <a:ext cx="201168" cy="201168"/>
            </a:xfrm>
            <a:prstGeom prst="ellipse">
              <a:avLst/>
            </a:prstGeom>
            <a:solidFill>
              <a:srgbClr val="80CDC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4690872" y="2487168"/>
              <a:ext cx="201168" cy="201168"/>
            </a:xfrm>
            <a:prstGeom prst="ellipse">
              <a:avLst/>
            </a:prstGeom>
            <a:solidFill>
              <a:srgbClr val="80CDC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36"/>
            <p:cNvSpPr/>
            <p:nvPr/>
          </p:nvSpPr>
          <p:spPr>
            <a:xfrm>
              <a:off x="6839712" y="1426464"/>
              <a:ext cx="201168" cy="201168"/>
            </a:xfrm>
            <a:prstGeom prst="ellipse">
              <a:avLst/>
            </a:prstGeom>
            <a:solidFill>
              <a:srgbClr val="A7611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8"/>
            <p:cNvSpPr/>
            <p:nvPr/>
          </p:nvSpPr>
          <p:spPr>
            <a:xfrm>
              <a:off x="6839712" y="1956816"/>
              <a:ext cx="201168" cy="201168"/>
            </a:xfrm>
            <a:prstGeom prst="ellipse">
              <a:avLst/>
            </a:prstGeom>
            <a:solidFill>
              <a:srgbClr val="A7611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0"/>
            <p:cNvSpPr/>
            <p:nvPr/>
          </p:nvSpPr>
          <p:spPr>
            <a:xfrm>
              <a:off x="6839712" y="2487168"/>
              <a:ext cx="201168" cy="201168"/>
            </a:xfrm>
            <a:prstGeom prst="ellipse">
              <a:avLst/>
            </a:prstGeom>
            <a:solidFill>
              <a:srgbClr val="A7611A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Text 41"/>
          <p:cNvSpPr/>
          <p:nvPr/>
        </p:nvSpPr>
        <p:spPr>
          <a:xfrm>
            <a:off x="7132320" y="241401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Final deliverables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4338827"/>
            <a:ext cx="8503920" cy="6858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535084" y="43388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Midterm: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535084" y="4614261"/>
            <a:ext cx="2899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Data prepared, tuned models beat baselines and initial feature rankings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46320" y="43479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Final: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46320" y="4596685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Accurate predictions and stable rankings presented through working interactive dashboard</a:t>
            </a:r>
            <a:endParaRPr lang="en-US" sz="1000" dirty="0"/>
          </a:p>
        </p:txBody>
      </p:sp>
      <p:pic>
        <p:nvPicPr>
          <p:cNvPr id="52" name="Graphic 51" descr="Bar chart with solid fill">
            <a:extLst>
              <a:ext uri="{FF2B5EF4-FFF2-40B4-BE49-F238E27FC236}">
                <a16:creationId xmlns:a16="http://schemas.microsoft.com/office/drawing/2014/main" id="{D943CA89-BBC2-37E3-3EA8-15F7149AA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3177540"/>
            <a:ext cx="914400" cy="914400"/>
          </a:xfrm>
          <a:prstGeom prst="rect">
            <a:avLst/>
          </a:prstGeom>
        </p:spPr>
      </p:pic>
      <p:pic>
        <p:nvPicPr>
          <p:cNvPr id="54" name="Graphic 53" descr="Statistics with solid fill">
            <a:extLst>
              <a:ext uri="{FF2B5EF4-FFF2-40B4-BE49-F238E27FC236}">
                <a16:creationId xmlns:a16="http://schemas.microsoft.com/office/drawing/2014/main" id="{E9CB0B29-A1C4-902F-C292-6CC2087B79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34640" y="3177540"/>
            <a:ext cx="914400" cy="914400"/>
          </a:xfrm>
          <a:prstGeom prst="rect">
            <a:avLst/>
          </a:prstGeom>
        </p:spPr>
      </p:pic>
      <p:pic>
        <p:nvPicPr>
          <p:cNvPr id="56" name="Graphic 55" descr="Gauge with solid fill">
            <a:extLst>
              <a:ext uri="{FF2B5EF4-FFF2-40B4-BE49-F238E27FC236}">
                <a16:creationId xmlns:a16="http://schemas.microsoft.com/office/drawing/2014/main" id="{EA916739-0C86-B89F-F94F-280AEEE1CE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97780" y="3238737"/>
            <a:ext cx="914400" cy="914400"/>
          </a:xfrm>
          <a:prstGeom prst="rect">
            <a:avLst/>
          </a:prstGeom>
        </p:spPr>
      </p:pic>
      <p:pic>
        <p:nvPicPr>
          <p:cNvPr id="58" name="Graphic 57" descr="Delivery with solid fill">
            <a:extLst>
              <a:ext uri="{FF2B5EF4-FFF2-40B4-BE49-F238E27FC236}">
                <a16:creationId xmlns:a16="http://schemas.microsoft.com/office/drawing/2014/main" id="{B40DF0B6-0BEC-CBD0-C260-E05ECD1008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46620" y="3238737"/>
            <a:ext cx="914400" cy="9144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5304998A-4549-C538-257B-266502292079}"/>
              </a:ext>
            </a:extLst>
          </p:cNvPr>
          <p:cNvSpPr txBox="1"/>
          <p:nvPr/>
        </p:nvSpPr>
        <p:spPr>
          <a:xfrm>
            <a:off x="228600" y="4453234"/>
            <a:ext cx="1097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D9488"/>
                </a:solidFill>
              </a:rPr>
              <a:t>GOALS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Risks, Cost &amp;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0292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0060" y="915785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006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9829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Generalization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2527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Models may perform unevenly across cities:  mitigated by city-stratified training &amp; multi-model benchmarking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50292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" y="2051443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" y="205144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DQ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1168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Quality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3957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ImmoScout24 may have missing fields or erroneous data: addressed in Week 1 cleaning pipeline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502920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" y="319929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" y="319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2678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Interface Simplicity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5387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Balancing dashboard complexity vs. usability: iterative usability testing in Week 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868680"/>
            <a:ext cx="3291840" cy="170307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60" y="960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Associated Costs….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52160" y="1325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$0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852160" y="2005723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C27D"/>
                </a:solidFill>
              </a:rPr>
              <a:t>Free: Kaggle data &amp; </a:t>
            </a:r>
            <a:r>
              <a:rPr lang="en-US" sz="1000" dirty="0" err="1">
                <a:solidFill>
                  <a:srgbClr val="E0C27D"/>
                </a:solidFill>
              </a:rPr>
              <a:t>Streamlit</a:t>
            </a:r>
            <a:r>
              <a:rPr lang="en-US" sz="1000" dirty="0">
                <a:solidFill>
                  <a:srgbClr val="E0C27D"/>
                </a:solidFill>
              </a:rPr>
              <a:t> software</a:t>
            </a:r>
          </a:p>
        </p:txBody>
      </p:sp>
      <p:sp>
        <p:nvSpPr>
          <p:cNvPr id="23" name="Shape 21"/>
          <p:cNvSpPr/>
          <p:nvPr/>
        </p:nvSpPr>
        <p:spPr>
          <a:xfrm>
            <a:off x="5669280" y="2693670"/>
            <a:ext cx="3291840" cy="14897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0" y="2931553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1"/>
          <a:lstStyle/>
          <a:p>
            <a:pPr marL="0" indent="0">
              <a:buNone/>
            </a:pPr>
            <a:r>
              <a:rPr lang="en-US" sz="1300" b="1" dirty="0">
                <a:solidFill>
                  <a:srgbClr val="CCFBF1"/>
                </a:solidFill>
              </a:rPr>
              <a:t>The Payoff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317740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1"/>
          <a:lstStyle/>
          <a:p>
            <a:pPr marL="0" indent="0">
              <a:buNone/>
            </a:pPr>
            <a:r>
              <a:rPr lang="en-US" sz="950" dirty="0">
                <a:solidFill>
                  <a:srgbClr val="E0C27D"/>
                </a:solidFill>
              </a:rPr>
              <a:t>A tool that predicts rent and shows users logically why. Thus, empowering tenants, investors, and policymakers with transparent, city-specific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1562</TotalTime>
  <Words>603</Words>
  <Application>Microsoft Macintosh PowerPoint</Application>
  <PresentationFormat>On-screen Show (16:9)</PresentationFormat>
  <Paragraphs>111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Amenities Magnet</dc:title>
  <dc:subject>PptxGenJS Presentation</dc:subject>
  <dc:creator>PptxGenJS</dc:creator>
  <cp:lastModifiedBy>Terence Buttrick</cp:lastModifiedBy>
  <cp:revision>11</cp:revision>
  <dcterms:created xsi:type="dcterms:W3CDTF">2026-03-03T21:16:37Z</dcterms:created>
  <dcterms:modified xsi:type="dcterms:W3CDTF">2026-03-05T20:55:31Z</dcterms:modified>
</cp:coreProperties>
</file>